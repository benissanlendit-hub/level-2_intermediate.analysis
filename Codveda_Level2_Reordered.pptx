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9"/>
    <p:sldId id="258" r:id="rId10"/>
    <p:sldId id="259" r:id="rId11"/>
    <p:sldId id="260" r:id="rId12"/>
    <p:sldId id="261" r:id="rId13"/>
    <p:sldId id="262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7.xml"/><Relationship Id="rId4" Type="http://schemas.openxmlformats.org/officeDocument/2006/relationships/slide" Target="slides/slide8.xml"/><Relationship Id="rId5" Type="http://schemas.openxmlformats.org/officeDocument/2006/relationships/slide" Target="slides/slide9.xml"/><Relationship Id="rId6" Type="http://schemas.openxmlformats.org/officeDocument/2006/relationships/slide" Target="slides/slide10.xml"/><Relationship Id="rId7" Type="http://schemas.openxmlformats.org/officeDocument/2006/relationships/slide" Target="slides/slide11.xml"/><Relationship Id="rId8" Type="http://schemas.openxmlformats.org/officeDocument/2006/relationships/slide" Target="slides/slide12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379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28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0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74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91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93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46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B57"/>
                </a:solidFill>
              </a:rPr>
              <a:t>Data Analytics Internship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</a:rPr>
              <a:t>Level 2 (Intermediate) — Task 1: Regression Analysis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55"/>
                </a:solidFill>
              </a:rPr>
              <a:t>Boston Housing Dataset  |  Python, pandas, scikit-learn, matplotlib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</a:rPr>
              <a:t>Codveda Technology Internship Programme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B57"/>
                </a:solidFill>
              </a:rPr>
              <a:t>The Task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Build a simple linear regression model to predict one variable from another, evaluate its performance, and interpret the coefficients.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290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B57"/>
                </a:solidFill>
              </a:rPr>
              <a:t>Split &amp; Train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Train/test split, fit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LinearRegression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4290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389120" y="20116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B57"/>
                </a:solidFill>
              </a:rPr>
              <a:t>Interpret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Extract intercept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coefficient, explain their meaning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290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046720" y="20116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B57"/>
                </a:solidFill>
              </a:rPr>
              <a:t>Evaluate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R², MSE, RMSE on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held-out test set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B57"/>
                </a:solidFill>
              </a:rPr>
              <a:t>Step 1 — Data Split &amp; Model Training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2331720" cy="1143000"/>
          </a:xfrm>
          <a:prstGeom prst="rect">
            <a:avLst/>
          </a:prstGeom>
          <a:solidFill>
            <a:srgbClr val="1F3B57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506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6E0"/>
                </a:solidFill>
              </a:rPr>
              <a:t>Total Records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2331720" cy="1143000"/>
          </a:xfrm>
          <a:prstGeom prst="rect">
            <a:avLst/>
          </a:prstGeom>
          <a:solidFill>
            <a:srgbClr val="1F3B5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200400" y="1325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80/20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6E0"/>
                </a:solidFill>
              </a:rPr>
              <a:t>Train/Test Split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0" y="1234440"/>
            <a:ext cx="2331720" cy="1143000"/>
          </a:xfrm>
          <a:prstGeom prst="rect">
            <a:avLst/>
          </a:prstGeom>
          <a:solidFill>
            <a:srgbClr val="1F3B57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669280" y="1325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6E0"/>
                </a:solidFill>
              </a:rPr>
              <a:t>Predictor Variable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234440"/>
            <a:ext cx="2331720" cy="1143000"/>
          </a:xfrm>
          <a:prstGeom prst="rect">
            <a:avLst/>
          </a:prstGeom>
          <a:solidFill>
            <a:srgbClr val="1F3B57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138160" y="13258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6E0"/>
                </a:solidFill>
              </a:rPr>
              <a:t>Missing Values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974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The dataset was split into 80% training data (404 records) and 20% testing data (102 records), using random_state=42 for reproducibility. A LinearRegression model from scikit-learn was fit on RM (average number of rooms per dwelling) to predict MEDV (median home value, in $1000s).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B57"/>
                </a:solidFill>
              </a:rPr>
              <a:t>Step 2 — Model Coefficients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B57"/>
                </a:solidFill>
              </a:rPr>
              <a:t>MEDV  =  -36.25  +  9.35 × RM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Coefficient (9.35): each additional room is associated with an increase of ~$9,350 in predicted median house value.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Intercept (-36.25): the theoretical value when RM = 0 — not physically meaningful, just where the line crosses the y-axis.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B57"/>
                </a:solidFill>
              </a:rPr>
              <a:t>Step 3 — Model Evaluation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2377440" cy="960120"/>
          </a:xfrm>
          <a:prstGeom prst="rect">
            <a:avLst/>
          </a:prstGeom>
          <a:solidFill>
            <a:srgbClr val="1F3B57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3075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0.37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01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6E0"/>
                </a:solidFill>
              </a:rPr>
              <a:t>R² Score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2377440" cy="960120"/>
          </a:xfrm>
          <a:prstGeom prst="rect">
            <a:avLst/>
          </a:prstGeom>
          <a:solidFill>
            <a:srgbClr val="1F3B5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24048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46.14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986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6E0"/>
                </a:solidFill>
              </a:rPr>
              <a:t>MSE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429000"/>
            <a:ext cx="2377440" cy="960120"/>
          </a:xfrm>
          <a:prstGeom prst="rect">
            <a:avLst/>
          </a:prstGeom>
          <a:solidFill>
            <a:srgbClr val="1F3B57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35021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6.79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959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6E0"/>
                </a:solidFill>
              </a:rPr>
              <a:t>RMSE ($1000s)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66344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</a:rPr>
              <a:t>The model explains 37% of the variance in house prices using room count alone. On average, predictions deviate from actual prices by about $6,790 — a reasonable but limited fit, suggesting other features (crime rate, distance to employment, school quality) also matter.</a:t>
            </a:r>
            <a:endParaRPr lang="en-US" sz="1050" dirty="0"/>
          </a:p>
        </p:txBody>
      </p:sp>
      <p:pic>
        <p:nvPicPr>
          <p:cNvPr id="13" name="Image 0" descr="regression_line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188720"/>
            <a:ext cx="4206240" cy="3200400"/>
          </a:xfrm>
          <a:prstGeom prst="rect">
            <a:avLst/>
          </a:prstGeom>
        </p:spPr>
      </p:pic>
      <p:pic>
        <p:nvPicPr>
          <p:cNvPr id="14" name="Image 1" descr="residuals_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188720"/>
            <a:ext cx="3657600" cy="32004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42900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555"/>
                </a:solidFill>
              </a:rPr>
              <a:t>Regression line vs. actual data (left)  |  Residuals plot (right)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2860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</a:rPr>
              <a:t>Key Takeaway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554480" y="306324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EEF3"/>
                </a:solidFill>
              </a:rPr>
              <a:t>Room count is a strong, intuitive predictor of house price — but explains only part of the picture. Combining it with other features would meaningfully improve predictive accuracy.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55778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6D8"/>
                </a:solidFill>
              </a:rPr>
              <a:t>Tools: Python | pandas | scikit-learn | matplotlib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989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6D8"/>
                </a:solidFill>
              </a:rPr>
              <a:t>Codveda Technology Internship — #CodvedaAchievements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3B57"/>
                </a:solidFill>
              </a:rPr>
              <a:t>Data Analytics Internship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</a:rPr>
              <a:t>Level 2 (Intermediate) — Task 2: Time Series Analysis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55555"/>
                </a:solidFill>
              </a:rPr>
              <a:t>Stock Prices Dataset (AAPL)  |  Python, pandas, statsmodels, matplotlib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</a:rPr>
              <a:t>Codveda Technology Internship Programme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795775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B57"/>
                </a:solidFill>
              </a:rPr>
              <a:t>The Task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</a:rPr>
              <a:t>Analyze a time-series dataset to detect trends and seasonality: plot the raw series, decompose it into trend, seasonality and residuals, then apply moving average smoothing.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290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B57"/>
                </a:solidFill>
              </a:rPr>
              <a:t>Plot &amp; Inspect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Visualize the raw closing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price and identify patterns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4290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389120" y="20116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B57"/>
                </a:solidFill>
              </a:rPr>
              <a:t>Decompose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Split into trend, seasonal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and residual components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29000" cy="2468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046720" y="20116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B57"/>
                </a:solidFill>
              </a:rPr>
              <a:t>Smooth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0632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Apply 30-day and 90-day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moving averages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59807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B57"/>
                </a:solidFill>
              </a:rPr>
              <a:t>Step 1 — Raw Time Series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2331720" cy="1051560"/>
          </a:xfrm>
          <a:prstGeom prst="rect">
            <a:avLst/>
          </a:prstGeom>
          <a:solidFill>
            <a:srgbClr val="1F3B57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216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505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6E0"/>
                </a:solidFill>
              </a:rPr>
              <a:t>Companies in Dataset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2331720" cy="1051560"/>
          </a:xfrm>
          <a:prstGeom prst="rect">
            <a:avLst/>
          </a:prstGeom>
          <a:solidFill>
            <a:srgbClr val="1F3B57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3200400" y="1216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1,007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6E0"/>
                </a:solidFill>
              </a:rPr>
              <a:t>Trading Days (AAPL)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1143000"/>
            <a:ext cx="2331720" cy="1051560"/>
          </a:xfrm>
          <a:prstGeom prst="rect">
            <a:avLst/>
          </a:prstGeom>
          <a:solidFill>
            <a:srgbClr val="1F3B57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669280" y="1216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2014-17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6E0"/>
                </a:solidFill>
              </a:rPr>
              <a:t>Period Covered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143000"/>
            <a:ext cx="2331720" cy="1051560"/>
          </a:xfrm>
          <a:prstGeom prst="rect">
            <a:avLst/>
          </a:prstGeom>
          <a:solidFill>
            <a:srgbClr val="1F3B57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138160" y="12161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16916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6E0"/>
                </a:solidFill>
              </a:rPr>
              <a:t>Missing Close Values</a:t>
            </a:r>
            <a:endParaRPr lang="en-US" sz="1000" dirty="0"/>
          </a:p>
        </p:txBody>
      </p:sp>
      <p:pic>
        <p:nvPicPr>
          <p:cNvPr id="15" name="Image 0" descr="01_raw_time_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23160"/>
            <a:ext cx="960120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770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B57"/>
                </a:solidFill>
              </a:rPr>
              <a:t>Step 2 — Trend, Seasonality &amp; Residuals</a:t>
            </a:r>
            <a:endParaRPr lang="en-US" sz="2000" dirty="0"/>
          </a:p>
        </p:txBody>
      </p:sp>
      <p:pic>
        <p:nvPicPr>
          <p:cNvPr id="3" name="Image 0" descr="02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914400"/>
            <a:ext cx="5029200" cy="5577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</a:rPr>
              <a:t>Additive Decomposition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Period: 252 trading days (~1 year)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Trend captures the long-term direction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Seasonal component is small relative to price — stocks behave closer to a random walk than a seasonal process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</a:rPr>
              <a:t>Residuals capture day-to-day market noise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8723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B57"/>
                </a:solidFill>
              </a:rPr>
              <a:t>Step 3 — Moving Average Smoothing</a:t>
            </a:r>
            <a:endParaRPr lang="en-US" sz="2000" dirty="0"/>
          </a:p>
        </p:txBody>
      </p:sp>
      <p:pic>
        <p:nvPicPr>
          <p:cNvPr id="3" name="Image 0" descr="03_moving_aver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143000"/>
            <a:ext cx="10149840" cy="4251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55555"/>
                </a:solidFill>
              </a:rPr>
              <a:t>The 30-day moving average smooths short-term noise while tracking medium-term swings; the 90-day moving average is smoother still, filtering out most daily volatility to reveal the underlying trend.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50464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2860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017"/>
                </a:solidFill>
              </a:rPr>
              <a:t>Key Takeaway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554480" y="3063240"/>
            <a:ext cx="9052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8EEF3"/>
                </a:solidFill>
              </a:rPr>
              <a:t>AAPL shows a clear long-term uptrend across 2014-2017, with two notable corrections in 2015 and 2016. Decomposition confirms the seasonal signal is minor — most of the movement is trend plus daily noise.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55778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6D8"/>
                </a:solidFill>
              </a:rPr>
              <a:t>Tools: Python | pandas | statsmodels | matplotlib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989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6D8"/>
                </a:solidFill>
              </a:rPr>
              <a:t>Codveda Technology Internship — #CodvedaAchievements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76371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626</Words>
  <Application>Microsoft Office PowerPoint</Application>
  <PresentationFormat>Grand écran</PresentationFormat>
  <Paragraphs>96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benissan</cp:lastModifiedBy>
  <cp:revision>3</cp:revision>
  <dcterms:created xsi:type="dcterms:W3CDTF">2026-09-30T07:00:04Z</dcterms:created>
  <dcterms:modified xsi:type="dcterms:W3CDTF">2026-10-01T12:48:54Z</dcterms:modified>
</cp:coreProperties>
</file>